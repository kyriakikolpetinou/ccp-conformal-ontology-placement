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12191695" cy="13716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37744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</a:rPr>
              <a:t>Calibrated Concept Placement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93192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595959"/>
                </a:solidFill>
              </a:rPr>
              <a:t>Hierarchy-aware conformal prediction for ontology concept placement
Findings as of 2026-06-25  ·  MM-S14-Disease (CPP benchmark running)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>
                <a:solidFill>
                  <a:srgbClr val="1F4E79"/>
                </a:solidFill>
              </a:rPr>
              <a:t>The task, and the bottom 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/>
              <a:t>TASK: a clinical text mentions a NEW disease not yet in SNOMED CT. Place it by choosing the right</a:t>
            </a:r>
          </a:p>
          <a:p>
            <a:pPr>
              <a:spcAft>
                <a:spcPts val="600"/>
              </a:spcAft>
            </a:pPr>
            <a:r>
              <a:rPr sz="1800" b="0"/>
              <a:t>(parent → child) insertion edge among ~238,000 candidates. Analogy: file it in the right drawer of a huge cabinet.</a:t>
            </a:r>
          </a:p>
          <a:p>
            <a:pPr>
              <a:spcAft>
                <a:spcPts val="600"/>
              </a:spcAft>
            </a:pPr>
            <a:r>
              <a:rPr sz="800" b="0"/>
              <a:t/>
            </a: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1F4E79"/>
                </a:solidFill>
              </a:rPr>
              <a:t>BOTTOM LINE: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C7A2C"/>
                </a:solidFill>
              </a:rPr>
              <a:t>•  Guaranteeing the EXACT edge is impossible here — but guaranteeing the correct REGION is feasible and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C7A2C"/>
                </a:solidFill>
              </a:rPr>
              <a:t>useful to a curator. We wrap the placement model in a hierarchy-aware conformal layer to do this.</a:t>
            </a:r>
          </a:p>
          <a:p>
            <a:pPr>
              <a:spcAft>
                <a:spcPts val="600"/>
              </a:spcAft>
            </a:pPr>
            <a:r>
              <a:rPr sz="800" b="0"/>
              <a:t/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595959"/>
                </a:solidFill>
              </a:rPr>
              <a:t>•  Backbone: Oxford LM concept-placement model (ESWC 2024). Our contribution = the calibration layer.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>
                <a:solidFill>
                  <a:srgbClr val="1F4E79"/>
                </a:solidFill>
              </a:rPr>
              <a:t>Phase 0 — reproduction holds (GO)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/>
              <a:t>•  Rebuilt their full pipeline (Edge-Bi-encoder + Edge-Cross-encoder, top-50). Faithful to the paper.</a:t>
            </a:r>
          </a:p>
          <a:p>
            <a:pPr>
              <a:spcAft>
                <a:spcPts val="600"/>
              </a:spcAft>
            </a:pPr>
            <a:r>
              <a:rPr sz="1800" b="0"/>
              <a:t>•  Our test InR_any@10 = 20.3% vs paper 26.5%  (within their reported validation/test variance).</a:t>
            </a:r>
          </a:p>
          <a:p>
            <a:pPr>
              <a:spcAft>
                <a:spcPts val="600"/>
              </a:spcAft>
            </a:pPr>
            <a:r>
              <a:rPr sz="1800" b="0"/>
              <a:t>•  Retrieval recall@50 = 49.6% vs paper 50.0%  — near-exact match on the retrieval step.</a:t>
            </a:r>
          </a:p>
          <a:p>
            <a:pPr>
              <a:spcAft>
                <a:spcPts val="600"/>
              </a:spcAft>
            </a:pPr>
            <a:r>
              <a:rPr sz="1800" b="0"/>
              <a:t>•  Several metrics match or exceed theirs (e.g. InR_all@10 10.1% vs 8.7%).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C7A2C"/>
                </a:solidFill>
              </a:rPr>
              <a:t>•  → Solid, comparable foundation to build the calibration layer 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>
                <a:solidFill>
                  <a:srgbClr val="1F4E79"/>
                </a:solidFill>
              </a:rPr>
              <a:t>Phase 1 — naive calibration hits two walls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1F4E79"/>
                </a:solidFill>
              </a:rPr>
              <a:t>WALL 1: exact-edge prediction sets are not viable.</a:t>
            </a:r>
          </a:p>
          <a:p>
            <a:pPr>
              <a:spcAft>
                <a:spcPts val="600"/>
              </a:spcAft>
            </a:pPr>
            <a:r>
              <a:rPr sz="1800" b="0"/>
              <a:t>•  Coverage is hard-capped at recall@pool (~50%): the gold edge is simply not retrieved half the time.</a:t>
            </a:r>
          </a:p>
          <a:p>
            <a:pPr>
              <a:spcAft>
                <a:spcPts val="600"/>
              </a:spcAft>
            </a:pPr>
            <a:r>
              <a:rPr sz="1800" b="0"/>
              <a:t>•  To promise &gt;50% coverage, the set explodes to the entire 50-edge pool — useless.</a:t>
            </a: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1F4E79"/>
                </a:solidFill>
              </a:rPr>
              <a:t>WALL 2: the model's confidence is anti-correlated with exact correctness.</a:t>
            </a:r>
          </a:p>
          <a:p>
            <a:pPr>
              <a:spcAft>
                <a:spcPts val="600"/>
              </a:spcAft>
            </a:pPr>
            <a:r>
              <a:rPr sz="1800" b="0"/>
              <a:t>•  Its MOST-confident predictions (score ≈ 0.999) are correct 0% of the time — 'confident false positives'.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B02418"/>
                </a:solidFill>
              </a:rPr>
              <a:t>•  → Both naive fallbacks (small sets, abstain-by-confidence) fail. This is the wall the project anticipated.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>
                <a:solidFill>
                  <a:srgbClr val="1F4E79"/>
                </a:solidFill>
              </a:rPr>
              <a:t>The insight that rescues it: near-misses are NEAR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2C7A2C"/>
                </a:solidFill>
              </a:rPr>
              <a:t>When the model misses the EXACT edge, its prediction is still ontologically CLOSE to the gold.</a:t>
            </a:r>
          </a:p>
          <a:p>
            <a:pPr>
              <a:spcAft>
                <a:spcPts val="600"/>
              </a:spcAft>
            </a:pPr>
            <a:r>
              <a:rPr sz="1800" b="0"/>
              <a:t>•  Measured with Wu–Palmer similarity over the SNOMED hierarchy (parent + child placement):</a:t>
            </a:r>
          </a:p>
          <a:p>
            <a:pPr>
              <a:spcAft>
                <a:spcPts val="600"/>
              </a:spcAft>
            </a:pPr>
            <a:r>
              <a:rPr sz="1800" b="0"/>
              <a:t>•  Exact-edge coverage (top-10): 0.20</a:t>
            </a:r>
          </a:p>
          <a:p>
            <a:pPr>
              <a:spcAft>
                <a:spcPts val="600"/>
              </a:spcAft>
            </a:pPr>
            <a:r>
              <a:rPr sz="1800" b="0"/>
              <a:t>•  Right-region coverage (full-edge WP≥0.7): 0.77   ·   close (WP≥0.8): 0.62</a:t>
            </a:r>
          </a:p>
          <a:p>
            <a:pPr>
              <a:spcAft>
                <a:spcPts val="600"/>
              </a:spcAft>
            </a:pPr>
            <a:r>
              <a:rPr sz="1800" b="0"/>
              <a:t>•  Among exact MISSES: average closeness ≈ 0.81 (about one hop from gold).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595959"/>
                </a:solidFill>
              </a:rPr>
              <a:t>•  Filing-cabinet: it rarely picks the exact folder, but almost always opens the right drawer.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595959"/>
                </a:solidFill>
              </a:rPr>
              <a:t>•  This is the 'lenient evaluation' the original authors left as future work — we calibrate on 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>
                <a:solidFill>
                  <a:srgbClr val="1F4E79"/>
                </a:solidFill>
              </a:rPr>
              <a:t>Result 1 — confidence tracks REGION, not exact edge</a:t>
            </a:r>
          </a:p>
        </p:txBody>
      </p:sp>
      <p:pic>
        <p:nvPicPr>
          <p:cNvPr id="3" name="Picture 2" descr="fig1_risk_cover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6300216" cy="4846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766560" y="1371600"/>
            <a:ext cx="50292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F4E79"/>
                </a:solidFill>
              </a:rPr>
              <a:t>Selective prediction (auto-accept the most confident):</a:t>
            </a:r>
          </a:p>
          <a:p>
            <a:pPr>
              <a:spcAft>
                <a:spcPts val="600"/>
              </a:spcAft>
            </a:pPr>
            <a:r>
              <a:rPr sz="1600" b="0"/>
              <a:t>•  Region quality (blue) stays 0.78–0.91.</a:t>
            </a:r>
          </a:p>
          <a:p>
            <a:pPr>
              <a:spcAft>
                <a:spcPts val="600"/>
              </a:spcAft>
            </a:pPr>
            <a:r>
              <a:rPr sz="1600" b="0"/>
              <a:t>•  Exact correctness (red) hugs zero — and is 0 at the highest confidence.</a:t>
            </a:r>
          </a:p>
          <a:p>
            <a:pPr>
              <a:spcAft>
                <a:spcPts val="600"/>
              </a:spcAft>
            </a:pPr>
            <a:r>
              <a:rPr sz="1600" b="0"/>
              <a:t>•  Continuous risk AURC: 0.15 (region) vs 0.96 (exact).</a:t>
            </a:r>
          </a:p>
          <a:p>
            <a:pPr>
              <a:spcAft>
                <a:spcPts val="600"/>
              </a:spcAft>
            </a:pPr>
            <a:r>
              <a:rPr sz="1600" b="0"/>
              <a:t>•  → The model knows when it's in the right region; usable for curator triage.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>
                <a:solidFill>
                  <a:srgbClr val="1F4E79"/>
                </a:solidFill>
              </a:rPr>
              <a:t>Result 2 — small coverage-guaranteed region sets</a:t>
            </a:r>
          </a:p>
        </p:txBody>
      </p:sp>
      <p:pic>
        <p:nvPicPr>
          <p:cNvPr id="3" name="Picture 2" descr="fig3_setsize_cover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6300216" cy="4846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766560" y="1371600"/>
            <a:ext cx="50292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F4E79"/>
                </a:solidFill>
              </a:rPr>
              <a:t>How many edges a curator reviews vs coverage:</a:t>
            </a:r>
          </a:p>
          <a:p>
            <a:pPr>
              <a:spcAft>
                <a:spcPts val="600"/>
              </a:spcAft>
            </a:pPr>
            <a:r>
              <a:rPr sz="1600" b="0"/>
              <a:t>•  WP≥0.7: ~10-edge set → 65% coverage; ~30 → 88%.</a:t>
            </a:r>
          </a:p>
          <a:p>
            <a:pPr>
              <a:spcAft>
                <a:spcPts val="600"/>
              </a:spcAft>
            </a:pPr>
            <a:r>
              <a:rPr sz="1600" b="0"/>
              <a:t>•  WP≥0.8 (closer): ~19 edges → 65%.</a:t>
            </a:r>
          </a:p>
          <a:p>
            <a:pPr>
              <a:spcAft>
                <a:spcPts val="600"/>
              </a:spcAft>
            </a:pPr>
            <a:r>
              <a:rPr sz="1600" b="0"/>
              <a:t>•  Exact / WP≥0.9: only exist at 27–50 edges (no small set).</a:t>
            </a:r>
          </a:p>
          <a:p>
            <a:pPr>
              <a:spcAft>
                <a:spcPts val="600"/>
              </a:spcAft>
            </a:pPr>
            <a:r>
              <a:rPr sz="1600" b="0"/>
              <a:t>•  → Relaxing exact→region makes small, trustworthy sets possible.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>
                <a:solidFill>
                  <a:srgbClr val="1F4E79"/>
                </a:solidFill>
              </a:rPr>
              <a:t>Calibration &amp; subgroup fairness (with an honest limit)</a:t>
            </a:r>
          </a:p>
        </p:txBody>
      </p:sp>
      <p:pic>
        <p:nvPicPr>
          <p:cNvPr id="3" name="Picture 2" descr="fig5_mondrian_dep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6784848" cy="4846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766560" y="1371600"/>
            <a:ext cx="50292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F4E79"/>
                </a:solidFill>
              </a:rPr>
              <a:t>Class-conditional (Mondrian) conformal:</a:t>
            </a:r>
          </a:p>
          <a:p>
            <a:pPr>
              <a:spcAft>
                <a:spcPts val="600"/>
              </a:spcAft>
            </a:pPr>
            <a:r>
              <a:rPr sz="1600" b="0"/>
              <a:t>•  Marginal conformal HIDES subgroup gaps (mid-depth 57% vs shallow 100%).</a:t>
            </a:r>
          </a:p>
          <a:p>
            <a:pPr>
              <a:spcAft>
                <a:spcPts val="600"/>
              </a:spcAft>
            </a:pPr>
            <a:r>
              <a:rPr sz="1600" b="0"/>
              <a:t>•  Mondrian rebalances: worst group improves, easy groups get tighter sets.</a:t>
            </a:r>
          </a:p>
          <a:p>
            <a:pPr>
              <a:spcAft>
                <a:spcPts val="600"/>
              </a:spcAft>
            </a:pPr>
            <a:r>
              <a:rPr sz="1600" b="0"/>
              <a:t>•  BUT it can't fix the overall undershoot — test concepts are uniformly harder than calibration ones (concept drift).</a:t>
            </a:r>
          </a:p>
          <a:p>
            <a:pPr>
              <a:spcAft>
                <a:spcPts val="600"/>
              </a:spcAft>
            </a:pPr>
            <a:r>
              <a:rPr sz="1600" b="0"/>
              <a:t>•  Honest limitation the paper must own (see also fig2 calibration, fig4 drift).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>
                <a:solidFill>
                  <a:srgbClr val="1F4E79"/>
                </a:solidFill>
              </a:rPr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2C7A2C"/>
                </a:solidFill>
              </a:rPr>
              <a:t>•  STATUS:  reproduction GO  ·  exact-edge calibration NO-GO  ·  region calibration WORKS.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